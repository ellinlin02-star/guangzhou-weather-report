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1F4E79"/>
                </a:solidFill>
              </a:defRPr>
            </a:pPr>
            <a:r>
              <a:t>天气数据分析报告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>
                <a:solidFill>
                  <a:srgbClr val="444444"/>
                </a:solidFill>
              </a:defRPr>
            </a:pPr>
            <a:r>
              <a:t>数据时间：2016-01-01 至 2025-12-31</a:t>
            </a:r>
          </a:p>
          <a:p>
            <a:r>
              <a:t>数据天数：3653天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数据概览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371600"/>
          <a:ext cx="73152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</a:tblGrid>
              <a:tr h="522514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项目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数值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数据时间跨度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2016-01-01 至 2025-12-31</a:t>
                      </a:r>
                    </a:p>
                  </a:txBody>
                  <a:tcPr/>
                </a:tc>
              </a:tr>
              <a:tr h="52251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总数据天数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3653天</a:t>
                      </a:r>
                    </a:p>
                  </a:txBody>
                  <a:tcPr/>
                </a:tc>
              </a:tr>
              <a:tr h="52251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历史最高温度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32.6°C</a:t>
                      </a:r>
                    </a:p>
                  </a:txBody>
                  <a:tcPr/>
                </a:tc>
              </a:tr>
              <a:tr h="52251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历史最低温度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4.1°C</a:t>
                      </a:r>
                    </a:p>
                  </a:txBody>
                  <a:tcPr/>
                </a:tc>
              </a:tr>
              <a:tr h="52251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最高温度日期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2020-07-25</a:t>
                      </a:r>
                    </a:p>
                  </a:txBody>
                  <a:tcPr/>
                </a:tc>
              </a:tr>
              <a:tr h="522516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最低温度日期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2016-01-24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月度平均温度分布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097280"/>
          <a:ext cx="73152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</a:tblGrid>
              <a:tr h="351692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月份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平均温度(°C)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351692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1月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15.18°C</a:t>
                      </a:r>
                    </a:p>
                  </a:txBody>
                  <a:tcPr/>
                </a:tc>
              </a:tr>
              <a:tr h="351692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2月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16.03°C</a:t>
                      </a:r>
                    </a:p>
                  </a:txBody>
                  <a:tcPr/>
                </a:tc>
              </a:tr>
              <a:tr h="351692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3月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19.66°C</a:t>
                      </a:r>
                    </a:p>
                  </a:txBody>
                  <a:tcPr/>
                </a:tc>
              </a:tr>
              <a:tr h="351692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4月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23.0°C</a:t>
                      </a:r>
                    </a:p>
                  </a:txBody>
                  <a:tcPr/>
                </a:tc>
              </a:tr>
              <a:tr h="351692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5月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25.89°C</a:t>
                      </a:r>
                    </a:p>
                  </a:txBody>
                  <a:tcPr/>
                </a:tc>
              </a:tr>
              <a:tr h="351692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6月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27.72°C</a:t>
                      </a:r>
                    </a:p>
                  </a:txBody>
                  <a:tcPr/>
                </a:tc>
              </a:tr>
              <a:tr h="351692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7月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28.89°C</a:t>
                      </a:r>
                    </a:p>
                  </a:txBody>
                  <a:tcPr/>
                </a:tc>
              </a:tr>
              <a:tr h="351692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8月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28.13°C</a:t>
                      </a:r>
                    </a:p>
                  </a:txBody>
                  <a:tcPr/>
                </a:tc>
              </a:tr>
              <a:tr h="351692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9月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27.56°C</a:t>
                      </a:r>
                    </a:p>
                  </a:txBody>
                  <a:tcPr/>
                </a:tc>
              </a:tr>
              <a:tr h="351692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10月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24.5°C</a:t>
                      </a:r>
                    </a:p>
                  </a:txBody>
                  <a:tcPr/>
                </a:tc>
              </a:tr>
              <a:tr h="351692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11月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20.59°C</a:t>
                      </a:r>
                    </a:p>
                  </a:txBody>
                  <a:tcPr/>
                </a:tc>
              </a:tr>
              <a:tr h="351696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12月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15.7°C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年度温度变化趋势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097280"/>
          <a:ext cx="73152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</a:tblGrid>
              <a:tr h="415636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年份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年平均温度(°C)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2016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22.52°C</a:t>
                      </a:r>
                    </a:p>
                  </a:txBody>
                  <a:tcPr/>
                </a:tc>
              </a:tr>
              <a:tr h="415636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2017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22.39°C</a:t>
                      </a:r>
                    </a:p>
                  </a:txBody>
                  <a:tcPr/>
                </a:tc>
              </a:tr>
              <a:tr h="415636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2018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22.29°C</a:t>
                      </a:r>
                    </a:p>
                  </a:txBody>
                  <a:tcPr/>
                </a:tc>
              </a:tr>
              <a:tr h="415636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2019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23.15°C</a:t>
                      </a:r>
                    </a:p>
                  </a:txBody>
                  <a:tcPr/>
                </a:tc>
              </a:tr>
              <a:tr h="415636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2020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23.02°C</a:t>
                      </a:r>
                    </a:p>
                  </a:txBody>
                  <a:tcPr/>
                </a:tc>
              </a:tr>
              <a:tr h="415636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2021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23.23°C</a:t>
                      </a:r>
                    </a:p>
                  </a:txBody>
                  <a:tcPr/>
                </a:tc>
              </a:tr>
              <a:tr h="415636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22.3°C</a:t>
                      </a:r>
                    </a:p>
                  </a:txBody>
                  <a:tcPr/>
                </a:tc>
              </a:tr>
              <a:tr h="415636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2023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22.86°C</a:t>
                      </a:r>
                    </a:p>
                  </a:txBody>
                  <a:tcPr/>
                </a:tc>
              </a:tr>
              <a:tr h="415636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22.93°C</a:t>
                      </a:r>
                    </a:p>
                  </a:txBody>
                  <a:tcPr/>
                </a:tc>
              </a:tr>
              <a:tr h="41564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22.97°C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核心发现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800"/>
            </a:pPr>
            <a:r>
              <a:t>• 近10年平均温度呈上升趋势</a:t>
            </a:r>
          </a:p>
          <a:p>
            <a:pPr>
              <a:spcAft>
                <a:spcPts val="1200"/>
              </a:spcAft>
              <a:defRPr sz="1800"/>
            </a:pPr>
            <a:r>
              <a:t>• 最热月份：7月（平均28.89°C）</a:t>
            </a:r>
          </a:p>
          <a:p>
            <a:pPr>
              <a:spcAft>
                <a:spcPts val="1200"/>
              </a:spcAft>
              <a:defRPr sz="1800"/>
            </a:pPr>
            <a:r>
              <a:t>• 最冷月份：1月（平均15.18°C）</a:t>
            </a:r>
          </a:p>
          <a:p>
            <a:pPr>
              <a:spcAft>
                <a:spcPts val="1200"/>
              </a:spcAft>
              <a:defRPr sz="1800"/>
            </a:pPr>
            <a:r>
              <a:t>• 温度变化率：0.81%</a:t>
            </a:r>
          </a:p>
          <a:p>
            <a:pPr>
              <a:spcAft>
                <a:spcPts val="1200"/>
              </a:spcAft>
              <a:defRPr sz="1800"/>
            </a:pPr>
            <a:r>
              <a:t>• 历史最高温：38.0°C（2025年9月5日）</a:t>
            </a:r>
          </a:p>
          <a:p>
            <a:pPr>
              <a:spcAft>
                <a:spcPts val="1200"/>
              </a:spcAft>
              <a:defRPr sz="1800"/>
            </a:pPr>
            <a:r>
              <a:t>• 历史最低温：1.9°C（2016年1月25日）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应用价值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800"/>
            </a:pPr>
            <a:r>
              <a:t>1. 农业规划：优化作物种植时间，识别极端天气风险</a:t>
            </a:r>
          </a:p>
          <a:p>
            <a:pPr>
              <a:spcAft>
                <a:spcPts val="1200"/>
              </a:spcAft>
              <a:defRPr sz="1800"/>
            </a:pPr>
            <a:r>
              <a:t>2. 能源管理：预测用电高峰，优化能源调度</a:t>
            </a:r>
          </a:p>
          <a:p>
            <a:pPr>
              <a:spcAft>
                <a:spcPts val="1200"/>
              </a:spcAft>
              <a:defRPr sz="1800"/>
            </a:pPr>
            <a:r>
              <a:t>3. 旅游规划：识别最佳旅游季节和极端天气时段</a:t>
            </a:r>
          </a:p>
          <a:p>
            <a:pPr>
              <a:spcAft>
                <a:spcPts val="1200"/>
              </a:spcAft>
              <a:defRPr sz="1800"/>
            </a:pPr>
            <a:r>
              <a:t>4. 健康预警：识别高温/低温风险时段</a:t>
            </a:r>
          </a:p>
          <a:p>
            <a:pPr>
              <a:spcAft>
                <a:spcPts val="1200"/>
              </a:spcAft>
              <a:defRPr sz="1800"/>
            </a:pPr>
            <a:r>
              <a:t>5. 建筑设计：为保温、通风设计提供数据支持</a:t>
            </a:r>
          </a:p>
          <a:p>
            <a:pPr>
              <a:spcAft>
                <a:spcPts val="1200"/>
              </a:spcAft>
              <a:defRPr sz="1800"/>
            </a:pPr>
            <a:r>
              <a:t>6. 服装零售：预测季节性需求，优化库存管理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商业价值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800"/>
            </a:pPr>
            <a:r>
              <a:t>1. 电力行业：预测用电高峰，优化电力调度和定价</a:t>
            </a:r>
          </a:p>
          <a:p>
            <a:pPr>
              <a:spcAft>
                <a:spcPts val="1200"/>
              </a:spcAft>
              <a:defRPr sz="1800"/>
            </a:pPr>
            <a:r>
              <a:t>2. 零售业：预测空调、取暖设备、季节性服装需求</a:t>
            </a:r>
          </a:p>
          <a:p>
            <a:pPr>
              <a:spcAft>
                <a:spcPts val="1200"/>
              </a:spcAft>
              <a:defRPr sz="1800"/>
            </a:pPr>
            <a:r>
              <a:t>3. 物流运输：优化运输路线，避开极端天气</a:t>
            </a:r>
          </a:p>
          <a:p>
            <a:pPr>
              <a:spcAft>
                <a:spcPts val="1200"/>
              </a:spcAft>
              <a:defRPr sz="1800"/>
            </a:pPr>
            <a:r>
              <a:t>4. 保险业：评估极端天气风险，设计保险产品</a:t>
            </a:r>
          </a:p>
          <a:p>
            <a:pPr>
              <a:spcAft>
                <a:spcPts val="1200"/>
              </a:spcAft>
              <a:defRPr sz="1800"/>
            </a:pPr>
            <a:r>
              <a:t>5. 房地产：分析气候舒适度，影响房价和租金</a:t>
            </a:r>
          </a:p>
          <a:p>
            <a:pPr>
              <a:spcAft>
                <a:spcPts val="1200"/>
              </a:spcAft>
              <a:defRPr sz="1800"/>
            </a:pPr>
            <a:r>
              <a:t>6. 农业保险：基于极端事件数据设计保险产品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研究价值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800"/>
            </a:pPr>
            <a:r>
              <a:t>1. 气候变化研究：分析长期温度趋势</a:t>
            </a:r>
          </a:p>
          <a:p>
            <a:pPr>
              <a:spcAft>
                <a:spcPts val="1200"/>
              </a:spcAft>
              <a:defRPr sz="1800"/>
            </a:pPr>
            <a:r>
              <a:t>2. 气象模式分析：识别季节性模式和异常事件</a:t>
            </a:r>
          </a:p>
          <a:p>
            <a:pPr>
              <a:spcAft>
                <a:spcPts val="1200"/>
              </a:spcAft>
              <a:defRPr sz="1800"/>
            </a:pPr>
            <a:r>
              <a:t>3. 城市热岛效应：对比不同区域数据</a:t>
            </a:r>
          </a:p>
          <a:p>
            <a:pPr>
              <a:spcAft>
                <a:spcPts val="1200"/>
              </a:spcAft>
              <a:defRPr sz="1800"/>
            </a:pPr>
            <a:r>
              <a:t>4. 极端天气频率：分析极端事件发生规律</a:t>
            </a:r>
          </a:p>
          <a:p>
            <a:pPr>
              <a:spcAft>
                <a:spcPts val="1200"/>
              </a:spcAft>
              <a:defRPr sz="1800"/>
            </a:pPr>
            <a:r>
              <a:t>5. 机器学习训练：为天气预测模型提供训练数据</a:t>
            </a:r>
          </a:p>
          <a:p>
            <a:pPr>
              <a:spcAft>
                <a:spcPts val="1200"/>
              </a:spcAft>
              <a:defRPr sz="1800"/>
            </a:pPr>
            <a:r>
              <a:t>6. 环境政策制定：为气候适应政策提供数据支撑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数据特点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800"/>
            </a:pPr>
            <a:r>
              <a:t>✓ 数据完整：10年共3,653天，数据完整</a:t>
            </a:r>
          </a:p>
          <a:p>
            <a:pPr>
              <a:spcAft>
                <a:spcPts val="1200"/>
              </a:spcAft>
              <a:defRPr sz="1800"/>
            </a:pPr>
            <a:r>
              <a:t>✓ 多维度：包含最高、最低、平均温度</a:t>
            </a:r>
          </a:p>
          <a:p>
            <a:pPr>
              <a:spcAft>
                <a:spcPts val="1200"/>
              </a:spcAft>
              <a:defRPr sz="1800"/>
            </a:pPr>
            <a:r>
              <a:t>✓ 长期性：可用于趋势分析和预测</a:t>
            </a:r>
          </a:p>
          <a:p>
            <a:pPr>
              <a:spcAft>
                <a:spcPts val="1200"/>
              </a:spcAft>
              <a:defRPr sz="1800"/>
            </a:pPr>
            <a:r>
              <a:t>✓ 实用性：可直接应用于多个领域</a:t>
            </a:r>
          </a:p>
          <a:p>
            <a:pPr>
              <a:spcAft>
                <a:spcPts val="1200"/>
              </a:spcAft>
              <a:defRPr sz="1800"/>
            </a:pPr>
            <a:r>
              <a:t>✓ 准确性：基于气象站实测数据</a:t>
            </a:r>
          </a:p>
          <a:p>
            <a:pPr>
              <a:spcAft>
                <a:spcPts val="1200"/>
              </a:spcAft>
              <a:defRPr sz="1800"/>
            </a:pPr>
            <a:r>
              <a:t>✓ 连续性：每日数据连续，无缺失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总结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800"/>
            </a:pPr>
            <a:r>
              <a:t>这份天气数据具有多维度、多层次的应用价值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可以应用于：</a:t>
            </a:r>
          </a:p>
          <a:p>
            <a:pPr>
              <a:spcAft>
                <a:spcPts val="1200"/>
              </a:spcAft>
              <a:defRPr sz="1800"/>
            </a:pPr>
            <a:r>
              <a:t>• 实际应用：农业、能源、旅游、健康等领域</a:t>
            </a:r>
          </a:p>
          <a:p>
            <a:pPr>
              <a:spcAft>
                <a:spcPts val="1200"/>
              </a:spcAft>
              <a:defRPr sz="1800"/>
            </a:pPr>
            <a:r>
              <a:t>• 商业决策：电力、零售、物流、保险等行业</a:t>
            </a:r>
          </a:p>
          <a:p>
            <a:pPr>
              <a:spcAft>
                <a:spcPts val="1200"/>
              </a:spcAft>
              <a:defRPr sz="1800"/>
            </a:pPr>
            <a:r>
              <a:t>• 科学研究：气候变化、气象模式、环境政策等研究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通过深入挖掘和分析，这些数据可以为</a:t>
            </a:r>
          </a:p>
          <a:p>
            <a:pPr>
              <a:spcAft>
                <a:spcPts val="1200"/>
              </a:spcAft>
              <a:defRPr sz="1800"/>
            </a:pPr>
            <a:r>
              <a:t>决策制定、风险管理和科学研究提供有力支撑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